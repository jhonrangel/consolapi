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gel, Jhon / Kuehne + Nagel / Bog FL-II" userId="f06a6dca-0578-40f5-bc93-bc5bece16527" providerId="ADAL" clId="{FBCCF0D1-1630-498B-A1F2-959FA650976C}"/>
    <pc:docChg chg="custSel modSld">
      <pc:chgData name="Rangel, Jhon / Kuehne + Nagel / Bog FL-II" userId="f06a6dca-0578-40f5-bc93-bc5bece16527" providerId="ADAL" clId="{FBCCF0D1-1630-498B-A1F2-959FA650976C}" dt="2026-08-13T15:31:45.578" v="1" actId="22"/>
      <pc:docMkLst>
        <pc:docMk/>
      </pc:docMkLst>
      <pc:sldChg chg="addSp delSp mod">
        <pc:chgData name="Rangel, Jhon / Kuehne + Nagel / Bog FL-II" userId="f06a6dca-0578-40f5-bc93-bc5bece16527" providerId="ADAL" clId="{FBCCF0D1-1630-498B-A1F2-959FA650976C}" dt="2026-08-13T15:31:45.578" v="1" actId="22"/>
        <pc:sldMkLst>
          <pc:docMk/>
          <pc:sldMk cId="0" sldId="264"/>
        </pc:sldMkLst>
        <pc:picChg chg="del">
          <ac:chgData name="Rangel, Jhon / Kuehne + Nagel / Bog FL-II" userId="f06a6dca-0578-40f5-bc93-bc5bece16527" providerId="ADAL" clId="{FBCCF0D1-1630-498B-A1F2-959FA650976C}" dt="2026-08-13T15:31:45.203" v="0" actId="478"/>
          <ac:picMkLst>
            <pc:docMk/>
            <pc:sldMk cId="0" sldId="264"/>
            <ac:picMk id="4" creationId="{00000000-0000-0000-0000-000000000000}"/>
          </ac:picMkLst>
        </pc:picChg>
        <pc:picChg chg="add">
          <ac:chgData name="Rangel, Jhon / Kuehne + Nagel / Bog FL-II" userId="f06a6dca-0578-40f5-bc93-bc5bece16527" providerId="ADAL" clId="{FBCCF0D1-1630-498B-A1F2-959FA650976C}" dt="2026-08-13T15:31:45.578" v="1" actId="22"/>
          <ac:picMkLst>
            <pc:docMk/>
            <pc:sldMk cId="0" sldId="264"/>
            <ac:picMk id="13" creationId="{5C76572A-D569-C909-B4CC-C0E70EB27A4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805362"/>
            <a:ext cx="11049000" cy="561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96425" y="533400"/>
            <a:ext cx="2124075" cy="285750"/>
          </a:xfrm>
          <a:prstGeom prst="rect">
            <a:avLst/>
          </a:prstGeom>
          <a:solidFill>
            <a:srgbClr val="002B4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FFFFFF"/>
                </a:solidFill>
                <a:latin typeface="Poppins SemiBold"/>
              </a:rPr>
              <a:t>IT ARCHITECTURE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386012"/>
            <a:ext cx="11601450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1" i="0" u="none" dirty="0" err="1">
                <a:solidFill>
                  <a:srgbClr val="002B49"/>
                </a:solidFill>
                <a:latin typeface="Poppins"/>
              </a:rPr>
              <a:t>Solicitud</a:t>
            </a:r>
            <a:r>
              <a:rPr sz="3750" b="1" i="0" u="none" dirty="0">
                <a:solidFill>
                  <a:srgbClr val="002B49"/>
                </a:solidFill>
                <a:latin typeface="Poppins"/>
              </a:rPr>
              <a:t> de </a:t>
            </a:r>
            <a:r>
              <a:rPr sz="3750" b="1" i="0" u="none" dirty="0" err="1">
                <a:solidFill>
                  <a:srgbClr val="002B49"/>
                </a:solidFill>
                <a:latin typeface="Poppins"/>
              </a:rPr>
              <a:t>Infraestructura</a:t>
            </a:r>
            <a:r>
              <a:rPr sz="3750" b="1" i="0" u="none" dirty="0">
                <a:solidFill>
                  <a:srgbClr val="002B49"/>
                </a:solidFill>
                <a:latin typeface="Poppins"/>
              </a:rPr>
              <a:t> &amp; </a:t>
            </a:r>
            <a:r>
              <a:rPr sz="3750" b="1" i="0" u="none" dirty="0" err="1">
                <a:solidFill>
                  <a:srgbClr val="002B49"/>
                </a:solidFill>
                <a:latin typeface="Poppins"/>
              </a:rPr>
              <a:t>Servidor</a:t>
            </a:r>
            <a:r>
              <a:rPr sz="3750" b="1" i="0" u="none" dirty="0">
                <a:solidFill>
                  <a:srgbClr val="002B49"/>
                </a:solidFill>
                <a:latin typeface="Poppins"/>
              </a:rPr>
              <a:t> de </a:t>
            </a:r>
            <a:r>
              <a:rPr sz="3750" b="1" i="0" u="none" dirty="0" err="1">
                <a:solidFill>
                  <a:srgbClr val="002B49"/>
                </a:solidFill>
                <a:latin typeface="Poppins"/>
              </a:rPr>
              <a:t>Aplicaciones</a:t>
            </a:r>
            <a:endParaRPr sz="3750" b="1" i="0" u="none" dirty="0">
              <a:solidFill>
                <a:srgbClr val="002B49"/>
              </a:solidFill>
              <a:latin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3814762"/>
            <a:ext cx="8572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Sistema de Consolidación &amp; Auditoría Logística (S1/S2) — Operación Loreal</a:t>
            </a:r>
            <a:r>
              <a:t>
</a:t>
            </a:r>
            <a:r>
              <a:rPr sz="1500" b="1" i="0" u="none">
                <a:solidFill>
                  <a:srgbClr val="475569"/>
                </a:solidFill>
                <a:latin typeface="Lato"/>
              </a:rPr>
              <a:t>Opciones de Arquitectura: JavaScript (Node.js) vs. PHP + BD Relacional / Oracle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014912"/>
            <a:ext cx="140017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2B49"/>
                </a:solidFill>
                <a:latin typeface="Lato"/>
              </a:rPr>
              <a:t>Unidad Solicitante:</a:t>
            </a:r>
            <a:r>
              <a:rPr sz="1125" b="0" i="0" u="none">
                <a:solidFill>
                  <a:srgbClr val="64748B"/>
                </a:solidFill>
                <a:latin typeface="Lato"/>
              </a:rPr>
              <a:t> Operación Loreal K+N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425" y="5014912"/>
            <a:ext cx="214312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2B49"/>
                </a:solidFill>
                <a:latin typeface="Lato"/>
              </a:rPr>
              <a:t>Destinatario:</a:t>
            </a:r>
            <a:r>
              <a:rPr sz="1125" b="0" i="0" u="none">
                <a:solidFill>
                  <a:srgbClr val="64748B"/>
                </a:solidFill>
                <a:latin typeface="Lato"/>
              </a:rPr>
              <a:t> IT Cloud &amp; Infrastructure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6300" y="5014912"/>
            <a:ext cx="160972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2B49"/>
                </a:solidFill>
                <a:latin typeface="Lato"/>
              </a:rPr>
              <a:t>Versión Sistema:</a:t>
            </a:r>
            <a:r>
              <a:rPr sz="1125" b="0" i="0" u="none">
                <a:solidFill>
                  <a:srgbClr val="64748B"/>
                </a:solidFill>
                <a:latin typeface="Lato"/>
              </a:rPr>
              <a:t> 2.0 (Hybrid &amp; SSO Ready)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D363162-BF4B-0599-A99E-8A3421290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-111003"/>
            <a:ext cx="5611368" cy="1178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63100" y="533400"/>
            <a:ext cx="2057400" cy="138499"/>
          </a:xfrm>
          <a:prstGeom prst="rect">
            <a:avLst/>
          </a:prstGeom>
          <a:solidFill>
            <a:srgbClr val="002B4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Poppins SemiBold"/>
              </a:rPr>
              <a:t>CONTEXTO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0593" y="2499419"/>
            <a:ext cx="651081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072CE"/>
                </a:solidFill>
                <a:latin typeface="Poppins SemiBold"/>
              </a:rPr>
              <a:t>Sistema de Consolidación &amp; Auditoría (S1/S2)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5406" y="3042344"/>
            <a:ext cx="9501187" cy="963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95"/>
              </a:lnSpc>
            </a:pPr>
            <a:r>
              <a:rPr sz="3300" b="1" i="0" u="none">
                <a:solidFill>
                  <a:srgbClr val="002B49"/>
                </a:solidFill>
                <a:latin typeface="Poppins"/>
              </a:rPr>
              <a:t>Control de Trazabilidad en Muelle de Bodega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25" y="4244280"/>
            <a:ext cx="904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Solución de grado industrial para la lectura y auditoría en tiempo real de bultos (LPNs) mediante terminales de Radiofrecuencia (RF). Garantiza la validación en dos etapas (S1 Consolidación y S2 Cargue), previniendo errores de despacho con resiliencia total ante desconexiones Wi-Fi en bodega.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D4E2A3A-83AA-735F-7060-951BE84A6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-111003"/>
            <a:ext cx="5611368" cy="1178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6037"/>
            <a:ext cx="5357812" cy="3067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586037"/>
            <a:ext cx="5357812" cy="3067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25000" y="533400"/>
            <a:ext cx="2095500" cy="285750"/>
          </a:xfrm>
          <a:prstGeom prst="rect">
            <a:avLst/>
          </a:prstGeom>
          <a:solidFill>
            <a:srgbClr val="002B4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Poppins SemiBold"/>
              </a:rPr>
              <a:t>OPCIONES TECNOLÓGICAS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09887"/>
            <a:ext cx="4767262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6775" y="3252787"/>
            <a:ext cx="50056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72CE"/>
                </a:solidFill>
                <a:latin typeface="Poppins SemiBold"/>
              </a:rPr>
              <a:t>Servidor Node.js / Next.js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662362"/>
            <a:ext cx="4767262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Infraestructura: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VM Linux (Ubuntu/RHEL) o Azure App Service con Node.js 18+/20.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262437"/>
            <a:ext cx="4767262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Ventajas: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Mantiene la arquitectura nativa del proyecto (Next.js 15, React 19). Cero costo de reescritura de código.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862512"/>
            <a:ext cx="476726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Conexión BD: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Driver oficial oracledb para Node.js o conectores nativos PostgreSQL/SQL Server.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962" y="2909887"/>
            <a:ext cx="4767262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57962" y="3252787"/>
            <a:ext cx="50056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72CE"/>
                </a:solidFill>
                <a:latin typeface="Poppins SemiBold"/>
              </a:rPr>
              <a:t>Servidor Apache / Nginx + PHP 8.x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7962" y="3662362"/>
            <a:ext cx="4767262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Infraestructura: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Servidor LAMP/LEMP estandarizado con PHP 8.2+ y extensiones habilitadas.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962" y="4262437"/>
            <a:ext cx="4767262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Ventajas: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Alta compatibilidad si IT cuenta con políticas estrictas de servidores PHP tradicionales.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7962" y="4862512"/>
            <a:ext cx="476726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Conexión BD: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Módulo pdo_oci / oci8 con Oracle Instant Client instalado en el servidor.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12763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02B49"/>
                </a:solidFill>
                <a:latin typeface="Poppins"/>
              </a:rPr>
              <a:t>Propuesta de Opciones de Servidor Backend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F9E524D4-498D-C22C-62CF-0A5EAFC67F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-111003"/>
            <a:ext cx="5611368" cy="1178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36043"/>
            <a:ext cx="11049000" cy="29670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77400" y="533400"/>
            <a:ext cx="1943100" cy="285750"/>
          </a:xfrm>
          <a:prstGeom prst="rect">
            <a:avLst/>
          </a:prstGeom>
          <a:solidFill>
            <a:srgbClr val="002B4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Poppins SemiBold"/>
              </a:rPr>
              <a:t>ANÁLISIS COMPARATIVO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2645568"/>
          <a:ext cx="11029949" cy="2947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8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8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Criterio de Evaluación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Opción A: Node.js (JavaScript)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Opción B: PHP Enterprise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Compatibilidad con Código Actual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100% Nativo (Next.js 15 App Router)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Requiere migrar API REST a PHP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Soporte Offline Terminales RF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Nativo (Zustand + LocalStorage)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Requiere cliente JS desacoplado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Conector Oracle Database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Driver oracledb (Nativo Node.js)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Extensión pdo_oci + Instant Client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Tiempo de Migración e Implementación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1 a 2 Semanas (Rápido)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3 a 4 Semanas (Reescritura de APIs)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33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Integración SSO (Azure AD / Okta)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Integrada (Firebase SAML / NextAuth)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Vía SimpleSAMLphp / OAuth2 PHP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1025" y="3617118"/>
            <a:ext cx="38583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9394" y="3617118"/>
            <a:ext cx="36934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32861" y="3617118"/>
            <a:ext cx="34781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4107656"/>
            <a:ext cx="38583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9394" y="4107656"/>
            <a:ext cx="36934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2861" y="4107656"/>
            <a:ext cx="34781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607718"/>
            <a:ext cx="38583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9394" y="4607718"/>
            <a:ext cx="36934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2861" y="4607718"/>
            <a:ext cx="34781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098256"/>
            <a:ext cx="38583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9394" y="5098256"/>
            <a:ext cx="36934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2861" y="5098256"/>
            <a:ext cx="34781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12763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02B49"/>
                </a:solidFill>
                <a:latin typeface="Poppins"/>
              </a:rPr>
              <a:t>Matriz Comparativa de Opciones de Servidor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0860484-B979-14C8-993A-08BEB7BBD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-111003"/>
            <a:ext cx="5611368" cy="1178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405062"/>
            <a:ext cx="5357812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96525" y="533400"/>
            <a:ext cx="1323975" cy="285750"/>
          </a:xfrm>
          <a:prstGeom prst="rect">
            <a:avLst/>
          </a:prstGeom>
          <a:solidFill>
            <a:srgbClr val="002B4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Poppins SemiBold"/>
              </a:rPr>
              <a:t>BASE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5062"/>
            <a:ext cx="562570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72CE"/>
                </a:solidFill>
                <a:latin typeface="Poppins SemiBold"/>
              </a:rPr>
              <a:t>Integración de Datos Relacionales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14637"/>
            <a:ext cx="5357812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Se requiere aprovisionamiento de un esquema/base de datos relacional para almacenar 4 tablas del sistema: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95837"/>
            <a:ext cx="53578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072CE"/>
                </a:solidFill>
                <a:latin typeface="Lato"/>
              </a:rPr>
              <a:t>Nota de Redes:</a:t>
            </a:r>
            <a:r>
              <a:rPr sz="1125" b="0" i="0" u="none">
                <a:solidFill>
                  <a:srgbClr val="0072CE"/>
                </a:solidFill>
                <a:latin typeface="Lato"/>
              </a:rPr>
              <a:t> Apertura de puerto </a:t>
            </a:r>
            <a:r>
              <a:rPr sz="1125" b="1" i="0" u="none">
                <a:solidFill>
                  <a:srgbClr val="0072CE"/>
                </a:solidFill>
                <a:latin typeface="Lato"/>
              </a:rPr>
              <a:t>1521 (Oracle)</a:t>
            </a:r>
            <a:r>
              <a:rPr sz="1125" b="0" i="0" u="none">
                <a:solidFill>
                  <a:srgbClr val="0072CE"/>
                </a:solidFill>
                <a:latin typeface="Lato"/>
              </a:rPr>
              <a:t> o </a:t>
            </a:r>
            <a:r>
              <a:rPr sz="1125" b="1" i="0" u="none">
                <a:solidFill>
                  <a:srgbClr val="0072CE"/>
                </a:solidFill>
                <a:latin typeface="Lato"/>
              </a:rPr>
              <a:t>5432 (PostgreSQL)</a:t>
            </a:r>
            <a:r>
              <a:rPr sz="1125" b="0" i="0" u="none">
                <a:solidFill>
                  <a:srgbClr val="0072CE"/>
                </a:solidFill>
                <a:latin typeface="Lato"/>
              </a:rPr>
              <a:t> entre el Servidor de App y la BD.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41233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14712"/>
            <a:ext cx="5167312" cy="25241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Users: Autenticación y roles de usuario.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3740943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743325"/>
            <a:ext cx="5167312" cy="25241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Manifests: Encabezados de planillas de transporte.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406955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071937"/>
            <a:ext cx="5167312" cy="25241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AuditItems: Detalle individual de bultos/LPNs escaneados.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439816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400550"/>
            <a:ext cx="5167312" cy="25241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BipeoErrors: Log auditado de incidencias en bodega.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12763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02B49"/>
                </a:solidFill>
                <a:latin typeface="Poppins"/>
              </a:rPr>
              <a:t>Requerimientos de Base de Datos Oracle / SQL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6214988-B70A-849B-7EE3-7F54DC77D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-111003"/>
            <a:ext cx="5611368" cy="1178168"/>
          </a:xfrm>
          <a:prstGeom prst="rect">
            <a:avLst/>
          </a:prstGeom>
        </p:spPr>
      </p:pic>
      <p:pic>
        <p:nvPicPr>
          <p:cNvPr id="21" name="Imagen 20" descr="Honeywell | ELSI ®">
            <a:extLst>
              <a:ext uri="{FF2B5EF4-FFF2-40B4-BE49-F238E27FC236}">
                <a16:creationId xmlns:a16="http://schemas.microsoft.com/office/drawing/2014/main" id="{3514FA7B-6BCE-EBA2-9CA0-1304855A6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832" y="2524348"/>
            <a:ext cx="3571429" cy="35714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4137"/>
            <a:ext cx="3524250" cy="2990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24137"/>
            <a:ext cx="3524250" cy="2990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624137"/>
            <a:ext cx="3524250" cy="2990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86950" y="533400"/>
            <a:ext cx="1733550" cy="285750"/>
          </a:xfrm>
          <a:prstGeom prst="rect">
            <a:avLst/>
          </a:prstGeom>
          <a:solidFill>
            <a:srgbClr val="002B4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Poppins SemiBold"/>
              </a:rPr>
              <a:t>INFRAESTRUCTURA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481387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72CE"/>
                </a:solidFill>
                <a:latin typeface="Poppins SemiBold"/>
              </a:rPr>
              <a:t>1. Servidor de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890962"/>
            <a:ext cx="302895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SO: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Linux Ubuntu 22.04 LTS / RHEL.</a:t>
            </a:r>
            <a:r>
              <a:t>
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vCPU: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2 a 4 Cores.</a:t>
            </a:r>
            <a:r>
              <a:t>
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RAM: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4 GB - 8 GB.</a:t>
            </a:r>
            <a:r>
              <a:t>
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Runtime: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Node.js 20 LTS o PHP 8.2+ con Apache/Nginx.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481387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72CE"/>
                </a:solidFill>
                <a:latin typeface="Poppins SemiBold"/>
              </a:rPr>
              <a:t>2. Servidor de BD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890962"/>
            <a:ext cx="3028950" cy="145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Motor: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Oracle Database / PostgreSQL / MS SQL.</a:t>
            </a:r>
            <a:r>
              <a:t>
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RAM: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8 GB.</a:t>
            </a:r>
            <a:r>
              <a:t>
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Disco: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100 GB SSD (Crecimiento dinámico).</a:t>
            </a:r>
            <a:r>
              <a:t>
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Respaldos: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Backup diario automatizado.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481387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72CE"/>
                </a:solidFill>
                <a:latin typeface="Poppins SemiBold"/>
              </a:rPr>
              <a:t>3. Red &amp; Dominio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890962"/>
            <a:ext cx="3028950" cy="147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URL Interna: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loreal-audit.kn.local.</a:t>
            </a:r>
            <a:r>
              <a:t>
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Puertos: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80, 443 (HTTP/HTTPS) y 1521 (BD).</a:t>
            </a:r>
            <a:r>
              <a:t>
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Acceso: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VLAN Bodega + VPN Corporativa K+N.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947987"/>
            <a:ext cx="361950" cy="3619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525" y="2947987"/>
            <a:ext cx="314325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2947987"/>
            <a:ext cx="457200" cy="361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12763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02B49"/>
                </a:solidFill>
                <a:latin typeface="Poppins"/>
              </a:rPr>
              <a:t>Especificación Técnica de Recursos Solicitados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531AFB26-F24D-8304-7DFA-697B36C09C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-111003"/>
            <a:ext cx="5611368" cy="1178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34525" y="533400"/>
            <a:ext cx="2085975" cy="285750"/>
          </a:xfrm>
          <a:prstGeom prst="rect">
            <a:avLst/>
          </a:prstGeom>
          <a:solidFill>
            <a:srgbClr val="002B4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Poppins SemiBold"/>
              </a:rPr>
              <a:t>SEGURIDAD CORPORATIVA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048000"/>
            <a:ext cx="10620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Integración con Single Sign-On (SSO):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Autenticación institucional contra Azure AD / Okta mediante SAML 2.0 u OIDC, garantizando el cumplimiento de las políticas de seguridad de K+N.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705225"/>
            <a:ext cx="10620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Control de Acceso Basado en Roles (RBAC):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Segmentación estricta de perfiles: Auxiliar (Solo S1), Seguridad (Solo S2), Supervisor y Analista (Acceso total e informes).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362450"/>
            <a:ext cx="10620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Resiliencia en Red de Bodega: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Arquitectura optimizada para tolerar caídas de señal Wi-Fi en muelle sin pérdida de lecturas durante la operación.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776787"/>
            <a:ext cx="10620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Certificado SSL/TLS: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Cifrado de extremo a extremo (HTTPS) en todas las transmisiones entre las terminales portátiles RF y el servidor.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62287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19512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76737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91075"/>
            <a:ext cx="18097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12763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02B49"/>
                </a:solidFill>
                <a:latin typeface="Poppins"/>
              </a:rPr>
              <a:t>Seguridad, Gobierno de Acceso y Red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4399F62-DC97-BE95-F37A-370DB5528A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-111003"/>
            <a:ext cx="5611368" cy="1178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9562"/>
            <a:ext cx="2430660" cy="990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4119562"/>
            <a:ext cx="2430660" cy="119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860" y="4119562"/>
            <a:ext cx="2430660" cy="1190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541" y="4119562"/>
            <a:ext cx="243066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53675" y="533400"/>
            <a:ext cx="1266825" cy="285750"/>
          </a:xfrm>
          <a:prstGeom prst="rect">
            <a:avLst/>
          </a:prstGeom>
          <a:solidFill>
            <a:srgbClr val="002B4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Poppins SemiBold"/>
              </a:rPr>
              <a:t>CRONOGRAMA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3950" y="4243387"/>
            <a:ext cx="99441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0733" y="3214687"/>
            <a:ext cx="255219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0072CE"/>
                </a:solidFill>
                <a:latin typeface="Poppins SemiBold"/>
              </a:rPr>
              <a:t>Fase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2530" y="37004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413" y="3214687"/>
            <a:ext cx="255219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0072CE"/>
                </a:solidFill>
                <a:latin typeface="Poppins SemiBold"/>
              </a:rPr>
              <a:t>Fase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45210" y="37004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6094" y="3214687"/>
            <a:ext cx="255219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0072CE"/>
                </a:solidFill>
                <a:latin typeface="Poppins SemiBold"/>
              </a:rPr>
              <a:t>Fase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7891" y="37004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28774" y="3214687"/>
            <a:ext cx="255219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0072CE"/>
                </a:solidFill>
                <a:latin typeface="Poppins SemiBold"/>
              </a:rPr>
              <a:t>Fase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90571" y="37004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2475" y="4300537"/>
            <a:ext cx="1295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0000"/>
                </a:solidFill>
                <a:latin typeface="Lato"/>
              </a:rPr>
              <a:t>Aprovisionamiento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4529137"/>
            <a:ext cx="206871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Lato"/>
              </a:rPr>
              <a:t>Creación de VM, asignación de IP y registro de URL DNS interna.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5155" y="4300537"/>
            <a:ext cx="1409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0000"/>
                </a:solidFill>
                <a:latin typeface="Lato"/>
              </a:rPr>
              <a:t>Base de Datos &amp; SSO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5155" y="4529137"/>
            <a:ext cx="206871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Lato"/>
              </a:rPr>
              <a:t>Creación de esquemas SQL y configuración de SAML 2.0 con Azure 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7835" y="4300537"/>
            <a:ext cx="11049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0000"/>
                </a:solidFill>
                <a:latin typeface="Lato"/>
              </a:rPr>
              <a:t>Despliegue &amp; RF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7835" y="4529137"/>
            <a:ext cx="206871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Lato"/>
              </a:rPr>
              <a:t>Instalación de build en servidor y pruebas en terminales de radiofrecuencia.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0516" y="4300537"/>
            <a:ext cx="1276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0000"/>
                </a:solidFill>
                <a:latin typeface="Lato"/>
              </a:rPr>
              <a:t>Go-Live Operativo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0516" y="4529137"/>
            <a:ext cx="206871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Lato"/>
              </a:rPr>
              <a:t>Pase a producción oficial en la operación Kuehne + Nagel Loreal.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12763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02B49"/>
                </a:solidFill>
                <a:latin typeface="Poppins"/>
              </a:rPr>
              <a:t>Plan de Despliegue y Salida a Producción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9E2C245C-FACA-88FA-3F9A-AC23BA76A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-111003"/>
            <a:ext cx="5611368" cy="11781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38475"/>
            <a:ext cx="3619500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48825" y="533400"/>
            <a:ext cx="1971675" cy="285750"/>
          </a:xfrm>
          <a:prstGeom prst="rect">
            <a:avLst/>
          </a:prstGeom>
          <a:solidFill>
            <a:srgbClr val="002B4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Poppins SemiBold"/>
              </a:rPr>
              <a:t>BENEFICIOS OPERATIVOS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419475"/>
            <a:ext cx="28575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38BDF8"/>
                </a:solidFill>
                <a:latin typeface="Poppins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562475"/>
            <a:ext cx="2857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Lato"/>
              </a:rPr>
              <a:t>Trazabilidad de LPNs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7250" y="3290887"/>
            <a:ext cx="73009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72CE"/>
                </a:solidFill>
                <a:latin typeface="Poppins SemiBold"/>
              </a:rPr>
              <a:t>Aseguramiento de Cero Errores de Cargue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0" y="3833812"/>
            <a:ext cx="6953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La validación cruzada entre la etapa de consolidación (S1) y el cargue final (S2) elimina por completo las novedades de bultos faltantes o trocados hacia el cliente.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0" y="4462462"/>
            <a:ext cx="6953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El motor inteligente integrado procesa automáticamente los manifiestos Excel y genera reportes de auditoría listos para descarga inmediata.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2763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02B49"/>
                </a:solidFill>
                <a:latin typeface="Poppins"/>
              </a:rPr>
              <a:t>Impacto Esperado en la Operación Loreal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C76572A-D569-C909-B4CC-C0E70EB27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-111003"/>
            <a:ext cx="5611368" cy="11781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937" y="4161383"/>
            <a:ext cx="4810125" cy="1000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48875" y="533400"/>
            <a:ext cx="1571625" cy="285750"/>
          </a:xfrm>
          <a:prstGeom prst="rect">
            <a:avLst/>
          </a:prstGeom>
          <a:solidFill>
            <a:srgbClr val="002B4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Poppins SemiBold"/>
              </a:rPr>
              <a:t>SIGUIENTES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371" y="2591692"/>
            <a:ext cx="10061257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002B49"/>
                </a:solidFill>
                <a:latin typeface="Poppins"/>
              </a:rPr>
              <a:t>Solicitud Lista para Apertura de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3304133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Se requiere aprobación de IT para proceder con el aprovisionamiento de la VM y la Base de Datos Relacional.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1462" y="4409033"/>
            <a:ext cx="4029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1" i="0" u="none">
                <a:solidFill>
                  <a:srgbClr val="002B49"/>
                </a:solidFill>
                <a:latin typeface="Lato"/>
              </a:rPr>
              <a:t>Kuehne + Nagel Logistics — Operación Loreal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1462" y="4699545"/>
            <a:ext cx="40290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Lato"/>
              </a:rPr>
              <a:t>Contacto: Equipo de Operaciones &amp; Sistemas de Gestión Bodega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4523472-4A73-1AC2-FAB8-0BDE3D55C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-111003"/>
            <a:ext cx="5611368" cy="1178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944</Words>
  <Application>Microsoft Office PowerPoint</Application>
  <PresentationFormat>Panorámica</PresentationFormat>
  <Paragraphs>93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Lato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Rangel, Jhon / Kuehne + Nagel / Bog FL-II</dc:creator>
  <cp:keywords/>
  <dc:description>generated using python-pptx</dc:description>
  <cp:lastModifiedBy>Rangel, Jhon / Kuehne + Nagel / Bog FL-II</cp:lastModifiedBy>
  <cp:revision>2</cp:revision>
  <dcterms:created xsi:type="dcterms:W3CDTF">2013-01-27T09:14:16Z</dcterms:created>
  <dcterms:modified xsi:type="dcterms:W3CDTF">2026-08-13T15:31:47Z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828794a-ad25-45b2-b935-93f5b652d9d4_Enabled">
    <vt:lpwstr>true</vt:lpwstr>
  </property>
  <property fmtid="{D5CDD505-2E9C-101B-9397-08002B2CF9AE}" pid="3" name="MSIP_Label_0828794a-ad25-45b2-b935-93f5b652d9d4_SetDate">
    <vt:lpwstr>2026-08-13T13:23:25Z</vt:lpwstr>
  </property>
  <property fmtid="{D5CDD505-2E9C-101B-9397-08002B2CF9AE}" pid="4" name="MSIP_Label_0828794a-ad25-45b2-b935-93f5b652d9d4_Method">
    <vt:lpwstr>Standard</vt:lpwstr>
  </property>
  <property fmtid="{D5CDD505-2E9C-101B-9397-08002B2CF9AE}" pid="5" name="MSIP_Label_0828794a-ad25-45b2-b935-93f5b652d9d4_Name">
    <vt:lpwstr>External</vt:lpwstr>
  </property>
  <property fmtid="{D5CDD505-2E9C-101B-9397-08002B2CF9AE}" pid="6" name="MSIP_Label_0828794a-ad25-45b2-b935-93f5b652d9d4_SiteId">
    <vt:lpwstr>ea7a7580-e503-4446-9197-e4bd27841804</vt:lpwstr>
  </property>
  <property fmtid="{D5CDD505-2E9C-101B-9397-08002B2CF9AE}" pid="7" name="MSIP_Label_0828794a-ad25-45b2-b935-93f5b652d9d4_ActionId">
    <vt:lpwstr>613afab5-373e-4cff-9d62-f50f643516d8</vt:lpwstr>
  </property>
  <property fmtid="{D5CDD505-2E9C-101B-9397-08002B2CF9AE}" pid="8" name="MSIP_Label_0828794a-ad25-45b2-b935-93f5b652d9d4_ContentBits">
    <vt:lpwstr>0</vt:lpwstr>
  </property>
  <property fmtid="{D5CDD505-2E9C-101B-9397-08002B2CF9AE}" pid="9" name="MSIP_Label_0828794a-ad25-45b2-b935-93f5b652d9d4_Tag">
    <vt:lpwstr>10, 3, 0, 1</vt:lpwstr>
  </property>
</Properties>
</file>